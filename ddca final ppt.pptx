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6.xml" ContentType="application/vnd.openxmlformats-officedocument.presentationml.notesSlide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Days One" panose="020B0604020202020204" charset="0"/>
      <p:regular r:id="rId9"/>
    </p:embeddedFont>
    <p:embeddedFont>
      <p:font typeface="Felix Titling" panose="04060505060202020A04" pitchFamily="82" charset="0"/>
      <p:regular r:id="rId10"/>
    </p:embeddedFont>
    <p:embeddedFont>
      <p:font typeface="Ubuntu Sans" panose="020B0604020202020204" charset="0"/>
      <p:regular r:id="rId11"/>
    </p:embeddedFont>
    <p:embeddedFont>
      <p:font typeface="Ubuntu Sans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8327DA-D481-4A98-8153-279C3325FEA4}" v="6" dt="2026-10-15T07:07:47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9" autoAdjust="0"/>
  </p:normalViewPr>
  <p:slideViewPr>
    <p:cSldViewPr snapToGrid="0" snapToObjects="1">
      <p:cViewPr varScale="1">
        <p:scale>
          <a:sx n="82" d="100"/>
          <a:sy n="82" d="100"/>
        </p:scale>
        <p:origin x="69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vedhitha Naidu" userId="fbc1caf338b24dba" providerId="LiveId" clId="{7CEF76AF-77AA-47A6-B991-EEA0AF64AFDC}"/>
    <pc:docChg chg="undo custSel modSld">
      <pc:chgData name="Nivedhitha Naidu" userId="fbc1caf338b24dba" providerId="LiveId" clId="{7CEF76AF-77AA-47A6-B991-EEA0AF64AFDC}" dt="2026-10-15T07:08:21.478" v="343" actId="20577"/>
      <pc:docMkLst>
        <pc:docMk/>
      </pc:docMkLst>
      <pc:sldChg chg="modSp mod">
        <pc:chgData name="Nivedhitha Naidu" userId="fbc1caf338b24dba" providerId="LiveId" clId="{7CEF76AF-77AA-47A6-B991-EEA0AF64AFDC}" dt="2026-10-15T07:02:33.450" v="284" actId="20577"/>
        <pc:sldMkLst>
          <pc:docMk/>
          <pc:sldMk cId="0" sldId="256"/>
        </pc:sldMkLst>
        <pc:spChg chg="mod">
          <ac:chgData name="Nivedhitha Naidu" userId="fbc1caf338b24dba" providerId="LiveId" clId="{7CEF76AF-77AA-47A6-B991-EEA0AF64AFDC}" dt="2026-10-15T07:02:33.450" v="284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modSp mod">
        <pc:chgData name="Nivedhitha Naidu" userId="fbc1caf338b24dba" providerId="LiveId" clId="{7CEF76AF-77AA-47A6-B991-EEA0AF64AFDC}" dt="2026-10-15T07:03:19.981" v="289" actId="14100"/>
        <pc:sldMkLst>
          <pc:docMk/>
          <pc:sldMk cId="0" sldId="259"/>
        </pc:sldMkLst>
        <pc:spChg chg="mod">
          <ac:chgData name="Nivedhitha Naidu" userId="fbc1caf338b24dba" providerId="LiveId" clId="{7CEF76AF-77AA-47A6-B991-EEA0AF64AFDC}" dt="2026-10-15T07:02:46.967" v="285" actId="20577"/>
          <ac:spMkLst>
            <pc:docMk/>
            <pc:sldMk cId="0" sldId="259"/>
            <ac:spMk id="7" creationId="{00000000-0000-0000-0000-000000000000}"/>
          </ac:spMkLst>
        </pc:spChg>
        <pc:picChg chg="add mod">
          <ac:chgData name="Nivedhitha Naidu" userId="fbc1caf338b24dba" providerId="LiveId" clId="{7CEF76AF-77AA-47A6-B991-EEA0AF64AFDC}" dt="2026-10-15T07:03:19.981" v="289" actId="14100"/>
          <ac:picMkLst>
            <pc:docMk/>
            <pc:sldMk cId="0" sldId="259"/>
            <ac:picMk id="12" creationId="{F710C247-932A-8967-3F34-B8AA15D3E3DD}"/>
          </ac:picMkLst>
        </pc:picChg>
      </pc:sldChg>
      <pc:sldChg chg="addSp delSp modSp mod">
        <pc:chgData name="Nivedhitha Naidu" userId="fbc1caf338b24dba" providerId="LiveId" clId="{7CEF76AF-77AA-47A6-B991-EEA0AF64AFDC}" dt="2026-10-15T07:08:21.478" v="343" actId="20577"/>
        <pc:sldMkLst>
          <pc:docMk/>
          <pc:sldMk cId="0" sldId="260"/>
        </pc:sldMkLst>
        <pc:spChg chg="mod">
          <ac:chgData name="Nivedhitha Naidu" userId="fbc1caf338b24dba" providerId="LiveId" clId="{7CEF76AF-77AA-47A6-B991-EEA0AF64AFDC}" dt="2026-10-15T07:08:21.478" v="343" actId="20577"/>
          <ac:spMkLst>
            <pc:docMk/>
            <pc:sldMk cId="0" sldId="260"/>
            <ac:spMk id="7" creationId="{00000000-0000-0000-0000-000000000000}"/>
          </ac:spMkLst>
        </pc:spChg>
        <pc:grpChg chg="mod">
          <ac:chgData name="Nivedhitha Naidu" userId="fbc1caf338b24dba" providerId="LiveId" clId="{7CEF76AF-77AA-47A6-B991-EEA0AF64AFDC}" dt="2026-10-15T07:04:57.529" v="309"/>
          <ac:grpSpMkLst>
            <pc:docMk/>
            <pc:sldMk cId="0" sldId="260"/>
            <ac:grpSpMk id="11" creationId="{DE5482A0-5707-E993-4910-06E9803FFE42}"/>
          </ac:grpSpMkLst>
        </pc:grpChg>
        <pc:graphicFrameChg chg="modGraphic">
          <ac:chgData name="Nivedhitha Naidu" userId="fbc1caf338b24dba" providerId="LiveId" clId="{7CEF76AF-77AA-47A6-B991-EEA0AF64AFDC}" dt="2026-10-15T07:07:50.727" v="332" actId="20577"/>
          <ac:graphicFrameMkLst>
            <pc:docMk/>
            <pc:sldMk cId="0" sldId="260"/>
            <ac:graphicFrameMk id="6" creationId="{00000000-0000-0000-0000-000000000000}"/>
          </ac:graphicFrameMkLst>
        </pc:graphicFrameChg>
        <pc:inkChg chg="add del mod">
          <ac:chgData name="Nivedhitha Naidu" userId="fbc1caf338b24dba" providerId="LiveId" clId="{7CEF76AF-77AA-47A6-B991-EEA0AF64AFDC}" dt="2026-10-15T07:04:58.179" v="310" actId="9405"/>
          <ac:inkMkLst>
            <pc:docMk/>
            <pc:sldMk cId="0" sldId="260"/>
            <ac:inkMk id="9" creationId="{068C19B6-BE04-CA81-5B99-07B094C302C8}"/>
          </ac:inkMkLst>
        </pc:inkChg>
        <pc:inkChg chg="add del mod">
          <ac:chgData name="Nivedhitha Naidu" userId="fbc1caf338b24dba" providerId="LiveId" clId="{7CEF76AF-77AA-47A6-B991-EEA0AF64AFDC}" dt="2026-10-15T07:04:57.529" v="309"/>
          <ac:inkMkLst>
            <pc:docMk/>
            <pc:sldMk cId="0" sldId="260"/>
            <ac:inkMk id="10" creationId="{323C91B0-E26E-FCEB-D359-6AE03310ACF5}"/>
          </ac:inkMkLst>
        </pc:inkChg>
        <pc:inkChg chg="add del">
          <ac:chgData name="Nivedhitha Naidu" userId="fbc1caf338b24dba" providerId="LiveId" clId="{7CEF76AF-77AA-47A6-B991-EEA0AF64AFDC}" dt="2026-10-15T07:07:53.090" v="335" actId="9405"/>
          <ac:inkMkLst>
            <pc:docMk/>
            <pc:sldMk cId="0" sldId="260"/>
            <ac:inkMk id="12" creationId="{0A976D47-74DC-CDBC-1FE0-9A52331FACB8}"/>
          </ac:inkMkLst>
        </pc:inkChg>
        <pc:inkChg chg="add del">
          <ac:chgData name="Nivedhitha Naidu" userId="fbc1caf338b24dba" providerId="LiveId" clId="{7CEF76AF-77AA-47A6-B991-EEA0AF64AFDC}" dt="2026-10-15T07:07:52.156" v="334" actId="9405"/>
          <ac:inkMkLst>
            <pc:docMk/>
            <pc:sldMk cId="0" sldId="260"/>
            <ac:inkMk id="13" creationId="{28979A8F-67EB-5A99-0F51-CB244CE7CFA0}"/>
          </ac:inkMkLst>
        </pc:inkChg>
        <pc:inkChg chg="add del">
          <ac:chgData name="Nivedhitha Naidu" userId="fbc1caf338b24dba" providerId="LiveId" clId="{7CEF76AF-77AA-47A6-B991-EEA0AF64AFDC}" dt="2026-10-15T07:07:51.189" v="333" actId="9405"/>
          <ac:inkMkLst>
            <pc:docMk/>
            <pc:sldMk cId="0" sldId="260"/>
            <ac:inkMk id="14" creationId="{FC19D123-CFC0-0092-B5AB-30F548C19EE6}"/>
          </ac:inkMkLst>
        </pc:inkChg>
        <pc:inkChg chg="add del">
          <ac:chgData name="Nivedhitha Naidu" userId="fbc1caf338b24dba" providerId="LiveId" clId="{7CEF76AF-77AA-47A6-B991-EEA0AF64AFDC}" dt="2026-10-15T07:07:46.366" v="326" actId="9405"/>
          <ac:inkMkLst>
            <pc:docMk/>
            <pc:sldMk cId="0" sldId="260"/>
            <ac:inkMk id="16" creationId="{981021F5-016F-CAA8-3C56-A3FFDFFE02FA}"/>
          </ac:inkMkLst>
        </pc:inkChg>
        <pc:inkChg chg="add del">
          <ac:chgData name="Nivedhitha Naidu" userId="fbc1caf338b24dba" providerId="LiveId" clId="{7CEF76AF-77AA-47A6-B991-EEA0AF64AFDC}" dt="2026-10-15T07:07:45.398" v="324" actId="9405"/>
          <ac:inkMkLst>
            <pc:docMk/>
            <pc:sldMk cId="0" sldId="260"/>
            <ac:inkMk id="17" creationId="{CC3EF346-CF2E-C8F0-BA6F-64EE90A9115D}"/>
          </ac:inkMkLst>
        </pc:inkChg>
        <pc:inkChg chg="add del">
          <ac:chgData name="Nivedhitha Naidu" userId="fbc1caf338b24dba" providerId="LiveId" clId="{7CEF76AF-77AA-47A6-B991-EEA0AF64AFDC}" dt="2026-10-15T07:07:44.893" v="323" actId="9405"/>
          <ac:inkMkLst>
            <pc:docMk/>
            <pc:sldMk cId="0" sldId="260"/>
            <ac:inkMk id="19" creationId="{61DF2902-9690-CCAF-6F13-47373FF3673F}"/>
          </ac:inkMkLst>
        </pc:inkChg>
        <pc:inkChg chg="add del">
          <ac:chgData name="Nivedhitha Naidu" userId="fbc1caf338b24dba" providerId="LiveId" clId="{7CEF76AF-77AA-47A6-B991-EEA0AF64AFDC}" dt="2026-10-15T07:07:43.832" v="322" actId="9405"/>
          <ac:inkMkLst>
            <pc:docMk/>
            <pc:sldMk cId="0" sldId="260"/>
            <ac:inkMk id="20" creationId="{E4A7C3A5-DB71-5001-B1D4-582DC3D11ED6}"/>
          </ac:inkMkLst>
        </pc:inkChg>
        <pc:inkChg chg="add del">
          <ac:chgData name="Nivedhitha Naidu" userId="fbc1caf338b24dba" providerId="LiveId" clId="{7CEF76AF-77AA-47A6-B991-EEA0AF64AFDC}" dt="2026-10-15T07:07:43.472" v="321" actId="9405"/>
          <ac:inkMkLst>
            <pc:docMk/>
            <pc:sldMk cId="0" sldId="260"/>
            <ac:inkMk id="21" creationId="{9256188A-700E-B6EB-FB1E-0E9BB1EC3218}"/>
          </ac:inkMkLst>
        </pc:inkChg>
        <pc:inkChg chg="add">
          <ac:chgData name="Nivedhitha Naidu" userId="fbc1caf338b24dba" providerId="LiveId" clId="{7CEF76AF-77AA-47A6-B991-EEA0AF64AFDC}" dt="2026-10-15T07:08:02.003" v="336" actId="9405"/>
          <ac:inkMkLst>
            <pc:docMk/>
            <pc:sldMk cId="0" sldId="260"/>
            <ac:inkMk id="22" creationId="{2F84B455-83CB-8347-A60A-EF345BC8C428}"/>
          </ac:inkMkLst>
        </pc:inkChg>
        <pc:inkChg chg="add">
          <ac:chgData name="Nivedhitha Naidu" userId="fbc1caf338b24dba" providerId="LiveId" clId="{7CEF76AF-77AA-47A6-B991-EEA0AF64AFDC}" dt="2026-10-15T07:08:03.931" v="337" actId="9405"/>
          <ac:inkMkLst>
            <pc:docMk/>
            <pc:sldMk cId="0" sldId="260"/>
            <ac:inkMk id="23" creationId="{C53DA0E2-8024-C6E4-C3B3-635084BFC192}"/>
          </ac:inkMkLst>
        </pc:inkChg>
        <pc:inkChg chg="add del">
          <ac:chgData name="Nivedhitha Naidu" userId="fbc1caf338b24dba" providerId="LiveId" clId="{7CEF76AF-77AA-47A6-B991-EEA0AF64AFDC}" dt="2026-10-15T07:08:07.652" v="339" actId="9405"/>
          <ac:inkMkLst>
            <pc:docMk/>
            <pc:sldMk cId="0" sldId="260"/>
            <ac:inkMk id="24" creationId="{8E8D0FC8-9253-877C-1643-00D01FE8D63C}"/>
          </ac:inkMkLst>
        </pc:inkChg>
        <pc:inkChg chg="add">
          <ac:chgData name="Nivedhitha Naidu" userId="fbc1caf338b24dba" providerId="LiveId" clId="{7CEF76AF-77AA-47A6-B991-EEA0AF64AFDC}" dt="2026-10-15T07:08:09.783" v="340" actId="9405"/>
          <ac:inkMkLst>
            <pc:docMk/>
            <pc:sldMk cId="0" sldId="260"/>
            <ac:inkMk id="25" creationId="{0205BD4F-BA95-D5CA-6E0A-9BE8983EC76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7:10:16.836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0,'35135'0'0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17:10:49.112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0 263,'254'0,"78"0,191 0,210 0,163 0,101 0,1071 2,2568-6,-3387-9,3847-110,-3560 79,-263 12,-59 9,-68 9,-80 6,-71 5,-491 2,2460 9,-977 54,-644-13,-821-36,-59 0,1379 48,-1515-51,275 14,-349-10,193 13,402 25,-225-36,-601-17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17:10:52.793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2255 45,'98'2,"139"5,225 13,284 26,278 22,192 14,987 76,1647 101,-2912-213,-101-18,-88-14,-67-8,-58-6,-62-3,-74 0,-76-1,-68 1,494-1,-823 3,-14-2,-20-6,11 6,-59-22,-135-30,-89 3,215 39,-251-37,-68 3,-88 2,-111 4,-117 7,-1624-2,-8 133,897 64,13 63,743-113,-1931 171,2584-280,-219 8,249-12,13-2,23-8,241-76,-1 5,107-13,136-6,181 2,208 11,2048-57,22 124,-2287 23,-124-10,-131-5,-119-1,21-6,-294 15,-26 2,-121 2,63 2,-937 0,-1037 3,-8 41,-1357 124,2657-118,76 3,66-3,62-7,-1342 24,1777-69,67 0,19-1,40-5,336-71,118-24,-51 35,113 5,134 0,127 4,2576-56,16 114,-2740 5,-337-4,-327 0,383-15,-366 13,-1 0,29-9,-27 2,-19 8,0 1,0 0,0 0,1 0,-1 0,0-1,0 1,0 0,0 0,1 0,-1-1,0 1,0 0,0 0,0-1,0 1,0 0,0 0,0-1,0 1,0 0,0 0,0 0,0-1,0 1,0 0,0 0,0-1,0 1,0 0,0 0,0-1,0 1,0 0,-1 0,1-1,-3-1,1 1,-1-1,1 0,-1 1,0 0,0 0,0 0,0 0,-4-1,-47-10,-91-8,124 18,-891-59,-12 50,751 10,-2621 36,159 115,1699-85,-805 64,134 4,1379-115,-496 7,707-24,-28-1,44 0,-1 0,0 0,0-1,0 1,1 0,-1 0,0-1,0 1,1-1,-1 0,0 1,1-1,-1 0,0 0,-1-1,7-3,13-2,48-13,111-17,65-3,77-5,76-7,81-2,96 1,104 9,1051-18,-1073 44,120-6,-59 6,-78 4,-82 6,-86 4,-86 2,-86 2,70 2,-319-4,-39 2,1-1,0 1,0 1,0 0,10 2,-25-4,0 0,0 1,0-1,0 1,-8 2,-22 0,-282-2,-775 15,-1577 168,731-77,853-121,13-91,790 50,-58-14,326 67,0 0,0-2,1 0,0 0,-19-11,31 15,1 0,-1 0,0 0,1-1,-1 1,1 0,0-1,-1 1,1-1,0 1,0-1,0 1,-1-4,2 4,-1 0,1 0,0 0,0 0,0 0,0 0,0 0,0 0,0 0,0 0,0 0,1 0,-1 0,0 0,1 0,-1 0,0 0,1 0,0-1,2-1,0-1,1 1,-1 0,1 0,-1 0,1 0,0 1,0 0,1 0,5-3,22-7,1 0,-1 3,38-7,108-8,-118 17,1609-72,-1143 104,-465-16,-55-6,-19 0,-116 3,7-2,-120 16,-63 10,-989 128,-254 26,1251-156,-193 15,448-38,42-5,0 0,-1 0,1 0,0 0,0 0,0 0,-1 0,1 0,0 0,0 0,0 0,-1 0,1 0,0 0,0 0,0 0,-1 0,1 0,0 0,0 0,0 1,-1-1,1 0,0 0,0 0,0 0,0 1,0-1,-1 0,1 0,0 0,0 0,0 1,0-1,0 0,0 0,0 1,0-1,0 0,0 0,0 0,0 1,0-1,0 0,0 0,0 0,0 1,0-1,0 0,0 0,0 0,0 1,13 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7:07:58.649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62 0,'35742'0'0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17:05:40.052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7:06:51.930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1 210 0,'38489'0'0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7:08:04.479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0 176 0,'34811'0'0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17:08:15.417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2803 1,'-2803'0,"6634"0,-3819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7:08:02.001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7:08:03.930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5T07:08:09.783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4T17:04:49.502"/>
    </inkml:context>
    <inkml:brush xml:id="br0">
      <inkml:brushProperty name="width" value="0.4" units="cm"/>
      <inkml:brushProperty name="height" value="0.8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98 0,'34630'0'0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821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DE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customXml" Target="../ink/ink8.xml"/><Relationship Id="rId10" Type="http://schemas.openxmlformats.org/officeDocument/2006/relationships/customXml" Target="../ink/ink11.xml"/><Relationship Id="rId4" Type="http://schemas.openxmlformats.org/officeDocument/2006/relationships/image" Target="../media/image100.png"/><Relationship Id="rId9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0.png"/><Relationship Id="rId4" Type="http://schemas.openxmlformats.org/officeDocument/2006/relationships/customXml" Target="../ink/ink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538163"/>
            <a:ext cx="662923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783" y="1282502"/>
            <a:ext cx="6095848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endParaRPr lang="en-US" sz="3000" kern="100" spc="-60" dirty="0">
              <a:solidFill>
                <a:srgbClr val="F6F9FA"/>
              </a:solidFill>
              <a:latin typeface="Days One" pitchFamily="34" charset="0"/>
              <a:ea typeface="Days One" pitchFamily="34" charset="-122"/>
              <a:cs typeface="Days One" pitchFamily="34" charset="-120"/>
            </a:endParaRPr>
          </a:p>
          <a:p>
            <a:pPr marL="0" indent="0" algn="l">
              <a:lnSpc>
                <a:spcPct val="92000"/>
              </a:lnSpc>
              <a:buNone/>
            </a:pPr>
            <a:r>
              <a:rPr lang="en-US" sz="3500" kern="100" spc="-60" dirty="0">
                <a:solidFill>
                  <a:srgbClr val="F6F9FA"/>
                </a:solidFill>
                <a:latin typeface="Felix Titling" panose="04060505060202020A04" pitchFamily="82" charset="0"/>
                <a:ea typeface="Days One" pitchFamily="34" charset="-122"/>
                <a:cs typeface="Days One" pitchFamily="34" charset="-120"/>
              </a:rPr>
              <a:t>Design and Simulation of an Intelligent Traffic Signal Decision System Using Combinational Logic</a:t>
            </a:r>
            <a:endParaRPr lang="en-US" sz="3500" dirty="0">
              <a:latin typeface="Felix Titling" panose="04060505060202020A04" pitchFamily="8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783" y="3614121"/>
            <a:ext cx="695148" cy="45719"/>
          </a:xfrm>
          <a:prstGeom prst="roundRect">
            <a:avLst>
              <a:gd name="adj" fmla="val 49999"/>
            </a:avLst>
          </a:prstGeom>
          <a:solidFill>
            <a:srgbClr val="C9973A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3048000"/>
            <a:ext cx="6095848" cy="3423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650"/>
              </a:spcAft>
              <a:buNone/>
            </a:pPr>
            <a:endParaRPr lang="en-US" sz="1100" dirty="0">
              <a:solidFill>
                <a:srgbClr val="A9BCCB"/>
              </a:solidFill>
              <a:latin typeface="Ubuntu Sans" pitchFamily="34" charset="0"/>
              <a:ea typeface="Ubuntu Sans" pitchFamily="34" charset="-122"/>
              <a:cs typeface="Ubuntu Sans" pitchFamily="34" charset="-120"/>
            </a:endParaRPr>
          </a:p>
          <a:p>
            <a:pPr marL="0" indent="0" algn="l">
              <a:lnSpc>
                <a:spcPct val="112000"/>
              </a:lnSpc>
              <a:spcAft>
                <a:spcPts val="1650"/>
              </a:spcAft>
              <a:buNone/>
            </a:pPr>
            <a:endParaRPr lang="en-US" sz="1100" dirty="0">
              <a:solidFill>
                <a:srgbClr val="A9BCCB"/>
              </a:solidFill>
              <a:latin typeface="Ubuntu Sans" pitchFamily="34" charset="0"/>
              <a:ea typeface="Ubuntu Sans" pitchFamily="34" charset="-122"/>
              <a:cs typeface="Ubuntu Sans" pitchFamily="34" charset="-120"/>
            </a:endParaRPr>
          </a:p>
          <a:p>
            <a:pPr marL="0" indent="0" algn="l">
              <a:lnSpc>
                <a:spcPct val="112000"/>
              </a:lnSpc>
              <a:spcAft>
                <a:spcPts val="1650"/>
              </a:spcAft>
              <a:buNone/>
            </a:pPr>
            <a:r>
              <a:rPr lang="en-US" sz="1100" dirty="0">
                <a:solidFill>
                  <a:srgbClr val="A9BCCB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Nivedhitha — 2620030175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1650"/>
              </a:spcAft>
              <a:buNone/>
            </a:pPr>
            <a:r>
              <a:rPr lang="en-US" sz="1100" dirty="0">
                <a:solidFill>
                  <a:srgbClr val="A9BCCB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Kusuma — 2620030511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1650"/>
              </a:spcAft>
              <a:buNone/>
            </a:pPr>
            <a:r>
              <a:rPr lang="en-US" sz="1100" dirty="0">
                <a:solidFill>
                  <a:srgbClr val="A9BCCB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Saanvi— 2620090044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1650"/>
              </a:spcAft>
              <a:buNone/>
            </a:pPr>
            <a:r>
              <a:rPr lang="en-US" sz="1100" dirty="0">
                <a:solidFill>
                  <a:srgbClr val="A9BCCB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Navadeep — 2620030508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1650"/>
              </a:spcAft>
              <a:buNone/>
            </a:pPr>
            <a:r>
              <a:rPr lang="en-US" sz="1100" dirty="0">
                <a:solidFill>
                  <a:srgbClr val="A9BCCB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Yuvaraj — 2620030680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1650"/>
              </a:spcAft>
              <a:buNone/>
            </a:pPr>
            <a:r>
              <a:rPr lang="en-US" sz="1100" dirty="0">
                <a:solidFill>
                  <a:srgbClr val="A9BCCB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Faculty Guide: Dr. B. Srinivas</a:t>
            </a:r>
            <a:endParaRPr lang="en-US" sz="1100" dirty="0"/>
          </a:p>
          <a:p>
            <a:pPr marL="0" indent="0" algn="l">
              <a:lnSpc>
                <a:spcPct val="112000"/>
              </a:lnSpc>
              <a:spcAft>
                <a:spcPts val="1650"/>
              </a:spcAft>
              <a:buNone/>
            </a:pP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9036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C744AA8-3E67-5B50-1976-A4019BB197E7}"/>
                  </a:ext>
                </a:extLst>
              </p14:cNvPr>
              <p14:cNvContentPartPr/>
              <p14:nvPr/>
            </p14:nvContentPartPr>
            <p14:xfrm>
              <a:off x="-198120" y="6766320"/>
              <a:ext cx="1264896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C744AA8-3E67-5B50-1976-A4019BB197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70120" y="6478320"/>
                <a:ext cx="12792600" cy="57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7858"/>
            <a:ext cx="3381191" cy="147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kern="100" spc="48" dirty="0">
                <a:solidFill>
                  <a:srgbClr val="1E5A66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2 · INTRODUCTION AND OBJECTIVE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168472" y="495796"/>
            <a:ext cx="2958530" cy="19050"/>
          </a:xfrm>
          <a:prstGeom prst="roundRect">
            <a:avLst>
              <a:gd name="adj" fmla="val 49999"/>
            </a:avLst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85540"/>
            <a:ext cx="6517517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54" dirty="0">
                <a:solidFill>
                  <a:srgbClr val="0F2533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Fixed-time signals waste green time; combinational logic can decide from live density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585" y="2316659"/>
            <a:ext cx="6517517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5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Traffic congestion grows when signal timing ignores which lane is actually busy. A fixed-time cycle gives the same green to an empty lane and a crowded one.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042741"/>
          <a:ext cx="6517517" cy="2859214"/>
        </p:xfrm>
        <a:graphic>
          <a:graphicData uri="http://schemas.openxmlformats.org/drawingml/2006/table">
            <a:tbl>
              <a:tblPr/>
              <a:tblGrid>
                <a:gridCol w="1955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7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Element</a:t>
                      </a:r>
                      <a:endParaRPr lang="en-US" sz="145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38012" marR="138012" marT="73606" marB="73606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Meaning in this project</a:t>
                      </a:r>
                      <a:endParaRPr lang="en-US" sz="145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38012" marR="138012" marT="73606" marB="73606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Traffic-density inputs</a:t>
                      </a:r>
                      <a:endParaRPr lang="en-US" sz="145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38012" marR="138012" marT="73606" marB="73606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Each lane reports 1 = high density or 0 = low density</a:t>
                      </a:r>
                      <a:endParaRPr lang="en-US" sz="145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38012" marR="138012" marT="73606" marB="73606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Combinational logic</a:t>
                      </a:r>
                      <a:endParaRPr lang="en-US" sz="145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38012" marR="138012" marT="73606" marB="73606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Output depends only on current inputs, with no memory</a:t>
                      </a:r>
                      <a:endParaRPr lang="en-US" sz="145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38012" marR="138012" marT="73606" marB="73606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7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Decision outputs</a:t>
                      </a:r>
                      <a:endParaRPr lang="en-US" sz="145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38012" marR="138012" marT="73606" marB="73606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Signal decision for the selected lane</a:t>
                      </a:r>
                      <a:endParaRPr lang="en-US" sz="145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38012" marR="138012" marT="73606" marB="73606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Objective</a:t>
                      </a:r>
                      <a:endParaRPr lang="en-US" sz="145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38012" marR="138012" marT="73606" marB="73606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Design, build in Logisim, and verify the decision logic</a:t>
                      </a:r>
                      <a:endParaRPr lang="en-US" sz="145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38012" marR="138012" marT="73606" marB="73606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6103441"/>
            <a:ext cx="6517517" cy="74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550"/>
              </a:spcAft>
              <a:buNone/>
            </a:pP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983" y="0"/>
            <a:ext cx="4302712" cy="685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1566" y="6461125"/>
            <a:ext cx="75285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endParaRPr lang="en-US" sz="1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FA91394-71A8-626E-A1BB-CCD20473200F}"/>
                  </a:ext>
                </a:extLst>
              </p14:cNvPr>
              <p14:cNvContentPartPr/>
              <p14:nvPr/>
            </p14:nvContentPartPr>
            <p14:xfrm>
              <a:off x="-45840" y="6687120"/>
              <a:ext cx="13233600" cy="125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FA91394-71A8-626E-A1BB-CCD2047320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7840" y="6543120"/>
                <a:ext cx="1337724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FB3E590-E78F-CE60-CAAB-86BFC5748ED6}"/>
                  </a:ext>
                </a:extLst>
              </p14:cNvPr>
              <p14:cNvContentPartPr/>
              <p14:nvPr/>
            </p14:nvContentPartPr>
            <p14:xfrm>
              <a:off x="5817480" y="6872160"/>
              <a:ext cx="6689520" cy="445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FB3E590-E78F-CE60-CAAB-86BFC5748E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45840" y="6728160"/>
                <a:ext cx="6833160" cy="73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57572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50" dirty="0">
                <a:solidFill>
                  <a:srgbClr val="1E5A66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3 · THEORY AND LOGIC CIRCUIT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44503" y="669925"/>
            <a:ext cx="5037607" cy="31651"/>
          </a:xfrm>
          <a:prstGeom prst="roundRect">
            <a:avLst>
              <a:gd name="adj" fmla="val 49998"/>
            </a:avLst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95374"/>
            <a:ext cx="8889778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56" dirty="0">
                <a:solidFill>
                  <a:srgbClr val="0F2533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Two lane inputs feed one OR gate that requests green for a dense lane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585" y="2191941"/>
            <a:ext cx="525766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42A38"/>
                </a:solidFill>
                <a:latin typeface="Ubuntu Sans Bold" pitchFamily="34" charset="0"/>
                <a:ea typeface="Ubuntu Sans Bold" pitchFamily="34" charset="-122"/>
                <a:cs typeface="Ubuntu Sans Bold" pitchFamily="34" charset="-120"/>
              </a:rPr>
              <a:t>Inputs:</a:t>
            </a: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 A and B, where 1 = high density and 0 = low density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607866"/>
          <a:ext cx="5257668" cy="2009724"/>
        </p:xfrm>
        <a:graphic>
          <a:graphicData uri="http://schemas.openxmlformats.org/drawingml/2006/table">
            <a:tbl>
              <a:tblPr/>
              <a:tblGrid>
                <a:gridCol w="1051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Gate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Rule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Use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AND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Y = 1 only if both inputs are 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Both lanes dense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OR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Y = 1 if any input is 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Any lane dense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NOT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Inverts one input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Complement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757341"/>
            <a:ext cx="525766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42A38"/>
                </a:solidFill>
                <a:latin typeface="Ubuntu Sans Bold" pitchFamily="34" charset="0"/>
                <a:ea typeface="Ubuntu Sans Bold" pitchFamily="34" charset="-122"/>
                <a:cs typeface="Ubuntu Sans Bold" pitchFamily="34" charset="-120"/>
              </a:rPr>
              <a:t>Expression:</a:t>
            </a: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 Y = A + B</a:t>
            </a:r>
            <a:endParaRPr lang="en-US" sz="150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2" y="2191941"/>
          <a:ext cx="5257669" cy="2168470"/>
        </p:xfrm>
        <a:graphic>
          <a:graphicData uri="http://schemas.openxmlformats.org/drawingml/2006/table">
            <a:tbl>
              <a:tblPr/>
              <a:tblGrid>
                <a:gridCol w="1735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A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B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Y = A + B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0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0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0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0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0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324442" y="4513342"/>
            <a:ext cx="525766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65C6A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Labelled OR-gate circuit: A → [OR] → Y, B → [OR]. Y = 1 when either lane is dense.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09585" y="5249466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42A38"/>
                </a:solidFill>
                <a:latin typeface="Ubuntu Sans Bold" pitchFamily="34" charset="0"/>
                <a:ea typeface="Ubuntu Sans Bold" pitchFamily="34" charset="-122"/>
                <a:cs typeface="Ubuntu Sans Bold" pitchFamily="34" charset="-120"/>
              </a:rPr>
              <a:t>Detection vs lane selection:</a:t>
            </a: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 sensors detect density physically; the logic circuit selects which lane receives the green request.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3448" y="5836325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3CFE8DB-6750-6B50-1F7C-AFD7A6E31563}"/>
                  </a:ext>
                </a:extLst>
              </p14:cNvPr>
              <p14:cNvContentPartPr/>
              <p14:nvPr/>
            </p14:nvContentPartPr>
            <p14:xfrm>
              <a:off x="-410848" y="6792414"/>
              <a:ext cx="12867480" cy="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3CFE8DB-6750-6B50-1F7C-AFD7A6E315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82848" y="6504414"/>
                <a:ext cx="13011120" cy="57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57572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50" dirty="0">
                <a:solidFill>
                  <a:srgbClr val="1E5A66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4 · CIRCUIT DESIGN IN LOGISIM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44503" y="669925"/>
            <a:ext cx="5037607" cy="31651"/>
          </a:xfrm>
          <a:prstGeom prst="roundRect">
            <a:avLst>
              <a:gd name="adj" fmla="val 49998"/>
            </a:avLst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95374"/>
            <a:ext cx="8889778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56" dirty="0">
                <a:solidFill>
                  <a:srgbClr val="0F2533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Build the OR decision circuit: two switches, one gate, one indicator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91941"/>
          <a:ext cx="5257668" cy="1733506"/>
        </p:xfrm>
        <a:graphic>
          <a:graphicData uri="http://schemas.openxmlformats.org/drawingml/2006/table">
            <a:tbl>
              <a:tblPr/>
              <a:tblGrid>
                <a:gridCol w="1840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Component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Connection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Input switch A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→ OR gate input 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Input switch B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→ OR gate input 2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OR gate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output → Y indicator (LED)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065191"/>
            <a:ext cx="5257668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Place pins A and B as input switches.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Place an OR gate and wire A and B to its inputs.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Place an LED and wire it to the OR output, labelled Y.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Toggle A and B to check Y against the truth table.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24442" y="2192417"/>
            <a:ext cx="5257668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65C6A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[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866861" y="6461125"/>
            <a:ext cx="32483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2D9F8E-721C-4604-2C09-D038CE42FB7B}"/>
              </a:ext>
            </a:extLst>
          </p:cNvPr>
          <p:cNvSpPr txBox="1"/>
          <p:nvPr/>
        </p:nvSpPr>
        <p:spPr>
          <a:xfrm>
            <a:off x="6008914" y="65314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AD0D8F-B0D4-04B2-66C8-88B2963CFF58}"/>
                  </a:ext>
                </a:extLst>
              </p14:cNvPr>
              <p14:cNvContentPartPr/>
              <p14:nvPr/>
            </p14:nvContentPartPr>
            <p14:xfrm>
              <a:off x="-308248" y="651251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AD0D8F-B0D4-04B2-66C8-88B2963CFF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79888" y="636887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778200D-9EAD-8151-376F-6F1A6096ED16}"/>
                  </a:ext>
                </a:extLst>
              </p14:cNvPr>
              <p14:cNvContentPartPr/>
              <p14:nvPr/>
            </p14:nvContentPartPr>
            <p14:xfrm>
              <a:off x="-401488" y="6726894"/>
              <a:ext cx="13856400" cy="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778200D-9EAD-8151-376F-6F1A6096ED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73128" y="6438894"/>
                <a:ext cx="14000040" cy="576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710C247-932A-8967-3F34-B8AA15D3E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4503" y="2602539"/>
            <a:ext cx="5347915" cy="2139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575722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50" dirty="0">
                <a:solidFill>
                  <a:srgbClr val="1E5A66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5 · SIMULATION RESULTS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544503" y="669925"/>
            <a:ext cx="5037607" cy="31651"/>
          </a:xfrm>
          <a:prstGeom prst="roundRect">
            <a:avLst>
              <a:gd name="adj" fmla="val 49998"/>
            </a:avLst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95374"/>
            <a:ext cx="8889778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56" dirty="0">
                <a:solidFill>
                  <a:srgbClr val="0F2533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Full truth table: expected outputs set against observed Logisim outputs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98684"/>
              </p:ext>
            </p:extLst>
          </p:nvPr>
        </p:nvGraphicFramePr>
        <p:xfrm>
          <a:off x="609585" y="2191941"/>
          <a:ext cx="5569743" cy="2168470"/>
        </p:xfrm>
        <a:graphic>
          <a:graphicData uri="http://schemas.openxmlformats.org/drawingml/2006/table">
            <a:tbl>
              <a:tblPr/>
              <a:tblGrid>
                <a:gridCol w="953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9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A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B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Expected Y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F2533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Observed Y (Logisim)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0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0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0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latin typeface="Ubuntu Sans" charset="0"/>
                          <a:ea typeface="Ubuntu Sans" charset="0"/>
                          <a:cs typeface="Ubuntu Sans" charset="0"/>
                        </a:rPr>
                        <a:t>OFF</a:t>
                      </a: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0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latin typeface="Ubuntu Sans" charset="0"/>
                          <a:ea typeface="Ubuntu Sans" charset="0"/>
                          <a:cs typeface="Ubuntu Sans" charset="0"/>
                        </a:rPr>
                        <a:t>ON </a:t>
                      </a: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0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latin typeface="Ubuntu Sans" charset="0"/>
                          <a:ea typeface="Ubuntu Sans" charset="0"/>
                          <a:cs typeface="Ubuntu Sans" charset="0"/>
                        </a:rPr>
                        <a:t>ON</a:t>
                      </a: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42A38"/>
                          </a:solidFill>
                          <a:latin typeface="Ubuntu Sans" pitchFamily="34" charset="0"/>
                          <a:ea typeface="Ubuntu Sans" pitchFamily="34" charset="-122"/>
                          <a:cs typeface="Ubuntu Sans" pitchFamily="34" charset="-120"/>
                        </a:rPr>
                        <a:t>1</a:t>
                      </a:r>
                      <a:endParaRPr lang="en-US" sz="1500" dirty="0">
                        <a:latin typeface="Ubuntu Sans" charset="0"/>
                        <a:ea typeface="Ubuntu Sans" charset="0"/>
                        <a:cs typeface="Ubuntu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latin typeface="Ubuntu Sans" charset="0"/>
                          <a:ea typeface="Ubuntu Sans" charset="0"/>
                          <a:cs typeface="Ubuntu Sans" charset="0"/>
                        </a:rPr>
                        <a:t>ON</a:t>
                      </a: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09585" y="4512866"/>
            <a:ext cx="595863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42A38"/>
                </a:solidFill>
                <a:latin typeface="Ubuntu Sans Bold" pitchFamily="34" charset="0"/>
                <a:ea typeface="Ubuntu Sans Bold" pitchFamily="34" charset="-122"/>
                <a:cs typeface="Ubuntu Sans Bold" pitchFamily="34" charset="-120"/>
              </a:rPr>
              <a:t>Verification status:</a:t>
            </a: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 pending. Observed values are recorded only from the actual Logisim run; no results are claimed here.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75241" y="2437877"/>
            <a:ext cx="4406869" cy="27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050"/>
              </a:spcAft>
              <a:buNone/>
            </a:pPr>
            <a:r>
              <a:rPr lang="en-US" sz="1100" dirty="0">
                <a:solidFill>
                  <a:srgbClr val="465C6A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866861" y="6461125"/>
            <a:ext cx="32483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endParaRPr lang="en-US" sz="1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CBFC430-1D64-10EB-84B5-EB67D73BF4F8}"/>
                  </a:ext>
                </a:extLst>
              </p14:cNvPr>
              <p14:cNvContentPartPr/>
              <p14:nvPr/>
            </p14:nvContentPartPr>
            <p14:xfrm>
              <a:off x="-214648" y="6820134"/>
              <a:ext cx="1253232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CBFC430-1D64-10EB-84B5-EB67D73BF4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86648" y="6532134"/>
                <a:ext cx="1267596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1E0FF80-FF72-FC2B-CFF6-31056FF78A27}"/>
                  </a:ext>
                </a:extLst>
              </p14:cNvPr>
              <p14:cNvContentPartPr/>
              <p14:nvPr/>
            </p14:nvContentPartPr>
            <p14:xfrm>
              <a:off x="11111312" y="6792414"/>
              <a:ext cx="138384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1E0FF80-FF72-FC2B-CFF6-31056FF78A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39312" y="6648774"/>
                <a:ext cx="15274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F84B455-83CB-8347-A60A-EF345BC8C428}"/>
                  </a:ext>
                </a:extLst>
              </p14:cNvPr>
              <p14:cNvContentPartPr/>
              <p14:nvPr/>
            </p14:nvContentPartPr>
            <p14:xfrm>
              <a:off x="4375712" y="3293699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F84B455-83CB-8347-A60A-EF345BC8C4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40072" y="3221699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53DA0E2-8024-C6E4-C3B3-635084BFC192}"/>
                  </a:ext>
                </a:extLst>
              </p14:cNvPr>
              <p14:cNvContentPartPr/>
              <p14:nvPr/>
            </p14:nvContentPartPr>
            <p14:xfrm>
              <a:off x="4366712" y="3732179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53DA0E2-8024-C6E4-C3B3-635084BFC1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30712" y="3660179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205BD4F-BA95-D5CA-6E0A-9BE8983EC76F}"/>
                  </a:ext>
                </a:extLst>
              </p14:cNvPr>
              <p14:cNvContentPartPr/>
              <p14:nvPr/>
            </p14:nvContentPartPr>
            <p14:xfrm>
              <a:off x="4357352" y="4161299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205BD4F-BA95-D5CA-6E0A-9BE8983EC7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21352" y="4089299"/>
                <a:ext cx="72000" cy="14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6563"/>
            <a:ext cx="338119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kern="100" spc="50" dirty="0">
                <a:solidFill>
                  <a:srgbClr val="1E5A66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6 · CONCLUSION AND APPLICATIONS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168472" y="492125"/>
            <a:ext cx="2958530" cy="31651"/>
          </a:xfrm>
          <a:prstGeom prst="roundRect">
            <a:avLst>
              <a:gd name="adj" fmla="val 49998"/>
            </a:avLst>
          </a:prstGeom>
          <a:solidFill>
            <a:srgbClr val="C9973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017574"/>
            <a:ext cx="6517517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56" dirty="0">
                <a:solidFill>
                  <a:srgbClr val="0F2533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Combinational logic makes the lane-density decision; timed control comes next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585" y="2405261"/>
            <a:ext cx="651751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The project shows how an OR decision circuit turns binary density inputs into a lane request, built and tested in Logisim.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3173611"/>
            <a:ext cx="6517517" cy="122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Learning outcomes: binary inputs, gates, truth tables, Logisim construction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Educational uses: teaching combinational design and verification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Future improvements: density sensors, multi-lane logic, timed control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4615537"/>
            <a:ext cx="651751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465C6A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Limitation: a complete timed controller needs sequential logic, timers, safety mechanisms, and possibly a processor-based extension.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585" y="5433818"/>
            <a:ext cx="6517517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72" dirty="0">
                <a:solidFill>
                  <a:srgbClr val="0F2533"/>
                </a:solidFill>
                <a:latin typeface="Days One" pitchFamily="34" charset="0"/>
                <a:ea typeface="Days One" pitchFamily="34" charset="-122"/>
                <a:cs typeface="Days One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09585" y="6126758"/>
            <a:ext cx="651751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983" y="0"/>
            <a:ext cx="4302712" cy="6858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1566" y="6461125"/>
            <a:ext cx="75285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rgbClr val="142A38"/>
                </a:solidFill>
                <a:latin typeface="Ubuntu Sans" pitchFamily="34" charset="0"/>
                <a:ea typeface="Ubuntu Sans" pitchFamily="34" charset="-122"/>
                <a:cs typeface="Ubuntu Sans" pitchFamily="34" charset="-120"/>
              </a:rPr>
              <a:t>06</a:t>
            </a:r>
            <a:endParaRPr lang="en-US" sz="1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CD3DC3A-0C77-390E-825D-4A79CE3E8DF0}"/>
                  </a:ext>
                </a:extLst>
              </p14:cNvPr>
              <p14:cNvContentPartPr/>
              <p14:nvPr/>
            </p14:nvContentPartPr>
            <p14:xfrm>
              <a:off x="-149848" y="6671094"/>
              <a:ext cx="1246752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CD3DC3A-0C77-390E-825D-4A79CE3E8D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21488" y="6383094"/>
                <a:ext cx="12611160" cy="57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536</Words>
  <Application>Microsoft Office PowerPoint</Application>
  <PresentationFormat>Widescreen</PresentationFormat>
  <Paragraphs>110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Ubuntu Sans</vt:lpstr>
      <vt:lpstr>Ubuntu Sans Bold</vt:lpstr>
      <vt:lpstr>Arial</vt:lpstr>
      <vt:lpstr>Felix Titling</vt:lpstr>
      <vt:lpstr>Days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Nivedhitha</dc:creator>
  <cp:lastModifiedBy>Nivedhitha Naidu</cp:lastModifiedBy>
  <cp:revision>2</cp:revision>
  <dcterms:created xsi:type="dcterms:W3CDTF">2026-10-14T17:01:58Z</dcterms:created>
  <dcterms:modified xsi:type="dcterms:W3CDTF">2026-10-15T07:08:45Z</dcterms:modified>
</cp:coreProperties>
</file>